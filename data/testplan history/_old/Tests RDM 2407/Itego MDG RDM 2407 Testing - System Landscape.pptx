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90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F7D0514-4241-858C-0151-1AE4D7838F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1531653-050F-7B56-4C81-637AB3E35F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1A86733-B7A9-99D8-DA32-5FD2AF083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4774A-0476-4181-9990-28F8CFCCD8AB}" type="datetimeFigureOut">
              <a:rPr lang="de-DE" smtClean="0"/>
              <a:t>09.07.2024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C9A800A-7DD4-2849-51BD-B6CB11FAE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D79298A-8F1D-B567-F735-F6E91C5AB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D878C-C523-4BDB-A810-FD77A4B6E4B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714129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7570C0-4E3D-4972-39BE-44D025691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E391632-12FF-8C64-9CC2-94DD7C745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F5BCB75-4159-7A67-8B56-35DBFCED1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4774A-0476-4181-9990-28F8CFCCD8AB}" type="datetimeFigureOut">
              <a:rPr lang="de-DE" smtClean="0"/>
              <a:t>09.07.2024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4FAB7FA-7853-E3FD-4ADF-24811829A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4AFEB1D-1A6E-97B8-A65F-CF234ECB6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D878C-C523-4BDB-A810-FD77A4B6E4B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23904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84CE583-7D8C-13BD-8CF5-CDA2D4126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AFB971F-25D5-7AC5-1863-7319B90371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B660744-C6A2-A340-971E-8C01A82E6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4774A-0476-4181-9990-28F8CFCCD8AB}" type="datetimeFigureOut">
              <a:rPr lang="de-DE" smtClean="0"/>
              <a:t>09.07.2024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481ACDF-F2F4-F2C4-3732-36905A129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3F87619-AAE5-84DF-B74B-230A2A41A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D878C-C523-4BDB-A810-FD77A4B6E4B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093047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AB9448A-F3D6-8CA9-90B5-7A482249F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817C8D9-EC01-891E-E680-9FC8E5D8A1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FD359C7-E046-DF8C-CA5F-338CFC4932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F3B85BD-7DB8-7D5B-FCFA-4EFD2D10C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4774A-0476-4181-9990-28F8CFCCD8AB}" type="datetimeFigureOut">
              <a:rPr lang="de-DE" smtClean="0"/>
              <a:t>09.07.2024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8C94009-4729-E598-30B9-2D0B143A4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1F07605-EB47-B73F-A1F9-31F4CE222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D878C-C523-4BDB-A810-FD77A4B6E4B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8800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F7B8AD-A4BC-CA63-D70A-7401FBBB6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69384FB-C044-327E-698D-C331FCD4AD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5BE35E4-22DF-B0FE-9BAD-0FA020D2FF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990D21C-BAC9-6AF8-6417-264D8B0F21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A3BB965-E222-310A-A8D8-95982D90D6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5F3332E-2F3C-3ED3-91F7-BD0530B18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4774A-0476-4181-9990-28F8CFCCD8AB}" type="datetimeFigureOut">
              <a:rPr lang="de-DE" smtClean="0"/>
              <a:t>09.07.2024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8E9BF393-F9C6-6154-014D-FE6E41314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1B8603B-CA91-5531-5988-F03FD7DE1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D878C-C523-4BDB-A810-FD77A4B6E4B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95824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BA49BD-5FEE-29FB-D8AB-59A23D13E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5E6B485-E1B7-E3F2-1D71-EE8AE5E35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4774A-0476-4181-9990-28F8CFCCD8AB}" type="datetimeFigureOut">
              <a:rPr lang="de-DE" smtClean="0"/>
              <a:t>09.07.2024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5E060ED-9F96-94F4-5E9F-207D3F8FC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89D893E-FE94-F199-8099-8861228DD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D878C-C523-4BDB-A810-FD77A4B6E4B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360850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6844CF54-0578-2250-26DC-BE05E8769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4774A-0476-4181-9990-28F8CFCCD8AB}" type="datetimeFigureOut">
              <a:rPr lang="de-DE" smtClean="0"/>
              <a:t>09.07.2024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13DDC22-C938-0E4B-5C86-579834F13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8CA574B-A845-98F8-5B44-EE1099D50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D878C-C523-4BDB-A810-FD77A4B6E4B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1572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8F70558-9D25-5BE3-41AE-A0CD2783C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FB53086-E971-92A1-9F5A-663B28AC89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429A9F6-00FD-0EBC-6B35-A07FAFD709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2E711AE-D142-EFA2-A882-3A9DB0A39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4774A-0476-4181-9990-28F8CFCCD8AB}" type="datetimeFigureOut">
              <a:rPr lang="de-DE" smtClean="0"/>
              <a:t>09.07.2024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2F8AAE6-4B57-2FA9-5B69-763A43992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3B5905A-DBD7-9657-F0FF-446E0FF89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D878C-C523-4BDB-A810-FD77A4B6E4B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214587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6071631-52E7-2991-3765-518E066EB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E725E55D-E924-DF1C-F344-AC40661739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67EF807-9F23-D81E-59C2-EF28DDAE2B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3431FC7-B917-7AA6-7A07-3A31947B4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4774A-0476-4181-9990-28F8CFCCD8AB}" type="datetimeFigureOut">
              <a:rPr lang="de-DE" smtClean="0"/>
              <a:t>09.07.2024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50FE101-8FFC-A428-1258-20298939E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D3EC026-D938-788D-BA06-DBA58AB81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D878C-C523-4BDB-A810-FD77A4B6E4B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972142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6628EF-C8F1-B00F-5B5D-FF9F711B7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7B42E63-BE71-85AA-F239-3F3CC67BF0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4570BD2-B87C-B08B-2272-02CE3F495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4774A-0476-4181-9990-28F8CFCCD8AB}" type="datetimeFigureOut">
              <a:rPr lang="de-DE" smtClean="0"/>
              <a:t>09.07.2024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198C036-E250-DF69-758A-8A6B0967C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06897D5-7270-63B0-EAC5-FA24D24E5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D878C-C523-4BDB-A810-FD77A4B6E4B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929197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99445763-E61A-E2D3-9229-0C854FBA1C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F839480-0A1A-3E3A-BA26-3860DA9866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CC81EA9-EC60-BC28-A68A-A1D5507C5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4774A-0476-4181-9990-28F8CFCCD8AB}" type="datetimeFigureOut">
              <a:rPr lang="de-DE" smtClean="0"/>
              <a:t>09.07.2024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B4F81C1-3BD7-1B75-B0F4-C29D12A39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5F33993-20A5-452C-8CA8-7568DA4E9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D878C-C523-4BDB-A810-FD77A4B6E4B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34879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7AFB8822-2E6C-4EE3-2CD1-6CEC75618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64E589F-D221-796F-8103-8EBE0A80E9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9E25949-E7E8-6855-D986-ADFC0A94E5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E4774A-0476-4181-9990-28F8CFCCD8AB}" type="datetimeFigureOut">
              <a:rPr lang="de-DE" smtClean="0"/>
              <a:t>09.07.2024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D4AB1BB-B8FD-7176-9620-E7FB6AD9F5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5D15171-64D5-0E87-F372-570686F3B2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2D878C-C523-4BDB-A810-FD77A4B6E4B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27419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BF9C2747-CB59-335E-2697-C09F073727E1}"/>
              </a:ext>
            </a:extLst>
          </p:cNvPr>
          <p:cNvSpPr/>
          <p:nvPr/>
        </p:nvSpPr>
        <p:spPr>
          <a:xfrm>
            <a:off x="655336" y="585907"/>
            <a:ext cx="1707502" cy="9144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IH1 - 100</a:t>
            </a:r>
            <a:br>
              <a:rPr lang="de-DE" sz="1600" dirty="0"/>
            </a:br>
            <a:r>
              <a:rPr lang="de-DE" sz="1600" dirty="0">
                <a:solidFill>
                  <a:schemeClr val="bg1"/>
                </a:solidFill>
              </a:rPr>
              <a:t>S/4 2022 </a:t>
            </a:r>
            <a:br>
              <a:rPr lang="de-DE" sz="1600" dirty="0">
                <a:solidFill>
                  <a:schemeClr val="bg1"/>
                </a:solidFill>
              </a:rPr>
            </a:br>
            <a:r>
              <a:rPr lang="de-DE" sz="1600" dirty="0"/>
              <a:t>Test</a:t>
            </a:r>
            <a:endParaRPr lang="de-DE" dirty="0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B508F545-567F-5C95-BA71-4E6784655730}"/>
              </a:ext>
            </a:extLst>
          </p:cNvPr>
          <p:cNvSpPr/>
          <p:nvPr/>
        </p:nvSpPr>
        <p:spPr>
          <a:xfrm>
            <a:off x="5655948" y="2604371"/>
            <a:ext cx="1707502" cy="9144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IR1 - 200 </a:t>
            </a:r>
          </a:p>
          <a:p>
            <a:pPr algn="ctr"/>
            <a:r>
              <a:rPr lang="de-DE" sz="1600" dirty="0">
                <a:solidFill>
                  <a:schemeClr val="bg1"/>
                </a:solidFill>
              </a:rPr>
              <a:t>S/4 2021</a:t>
            </a:r>
            <a:br>
              <a:rPr lang="de-DE" sz="1600" dirty="0"/>
            </a:br>
            <a:r>
              <a:rPr lang="de-DE" sz="1600" dirty="0"/>
              <a:t>Test</a:t>
            </a:r>
            <a:endParaRPr lang="de-DE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E778E604-9917-B7F5-E1CD-46907D58FFDE}"/>
              </a:ext>
            </a:extLst>
          </p:cNvPr>
          <p:cNvSpPr/>
          <p:nvPr/>
        </p:nvSpPr>
        <p:spPr>
          <a:xfrm>
            <a:off x="5655948" y="4100209"/>
            <a:ext cx="1707502" cy="9144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IR2 - 200</a:t>
            </a:r>
            <a:br>
              <a:rPr lang="de-DE" sz="1600" dirty="0"/>
            </a:br>
            <a:r>
              <a:rPr lang="de-DE" sz="1600" dirty="0">
                <a:solidFill>
                  <a:schemeClr val="bg1"/>
                </a:solidFill>
              </a:rPr>
              <a:t>ERP </a:t>
            </a:r>
            <a:br>
              <a:rPr lang="de-DE" sz="1600" dirty="0"/>
            </a:br>
            <a:r>
              <a:rPr lang="de-DE" sz="1600" dirty="0"/>
              <a:t>Test</a:t>
            </a:r>
            <a:endParaRPr lang="de-DE" dirty="0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8662CE6A-BFE5-8592-7B3D-FCA0E5EE61A3}"/>
              </a:ext>
            </a:extLst>
          </p:cNvPr>
          <p:cNvSpPr/>
          <p:nvPr/>
        </p:nvSpPr>
        <p:spPr>
          <a:xfrm>
            <a:off x="5655948" y="5596047"/>
            <a:ext cx="1707503" cy="9144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S01 – </a:t>
            </a:r>
            <a:r>
              <a:rPr lang="de-DE" sz="1600" dirty="0"/>
              <a:t>100/400</a:t>
            </a:r>
            <a:br>
              <a:rPr lang="de-DE" dirty="0"/>
            </a:br>
            <a:r>
              <a:rPr lang="de-DE" sz="1600" dirty="0"/>
              <a:t>S/4 2023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D602D1AE-2199-E822-6CC6-3A47DB49957D}"/>
              </a:ext>
            </a:extLst>
          </p:cNvPr>
          <p:cNvSpPr/>
          <p:nvPr/>
        </p:nvSpPr>
        <p:spPr>
          <a:xfrm>
            <a:off x="1629287" y="1523537"/>
            <a:ext cx="1196878" cy="30065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>
                <a:solidFill>
                  <a:schemeClr val="tx1"/>
                </a:solidFill>
              </a:rPr>
              <a:t>RDM2404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8D26495E-919E-A721-D5C6-47FA53B42920}"/>
              </a:ext>
            </a:extLst>
          </p:cNvPr>
          <p:cNvSpPr/>
          <p:nvPr/>
        </p:nvSpPr>
        <p:spPr>
          <a:xfrm>
            <a:off x="6166572" y="2303719"/>
            <a:ext cx="1196878" cy="30065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>
                <a:solidFill>
                  <a:schemeClr val="tx1"/>
                </a:solidFill>
              </a:rPr>
              <a:t>RDM2404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0E1F40C9-6A26-1D44-3DC2-AF383D24854E}"/>
              </a:ext>
            </a:extLst>
          </p:cNvPr>
          <p:cNvSpPr/>
          <p:nvPr/>
        </p:nvSpPr>
        <p:spPr>
          <a:xfrm>
            <a:off x="6137002" y="3775838"/>
            <a:ext cx="1196878" cy="30065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>
                <a:solidFill>
                  <a:schemeClr val="tx1"/>
                </a:solidFill>
              </a:rPr>
              <a:t>RDM2404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F1AD0C1B-001F-7333-85E8-2A5FD69540B3}"/>
              </a:ext>
            </a:extLst>
          </p:cNvPr>
          <p:cNvSpPr/>
          <p:nvPr/>
        </p:nvSpPr>
        <p:spPr>
          <a:xfrm>
            <a:off x="6166572" y="5295395"/>
            <a:ext cx="1196878" cy="30065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>
                <a:solidFill>
                  <a:schemeClr val="tx1"/>
                </a:solidFill>
              </a:rPr>
              <a:t>RDM2311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3241948D-8FC8-F80A-44D2-57FC32EF0230}"/>
              </a:ext>
            </a:extLst>
          </p:cNvPr>
          <p:cNvSpPr/>
          <p:nvPr/>
        </p:nvSpPr>
        <p:spPr>
          <a:xfrm>
            <a:off x="5655948" y="1019877"/>
            <a:ext cx="1707502" cy="9144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IH1 - 400 </a:t>
            </a:r>
            <a:br>
              <a:rPr lang="de-DE" sz="1600" dirty="0"/>
            </a:br>
            <a:r>
              <a:rPr lang="de-DE" sz="1600" dirty="0">
                <a:solidFill>
                  <a:schemeClr val="bg1"/>
                </a:solidFill>
              </a:rPr>
              <a:t>S/4 2022 </a:t>
            </a:r>
            <a:br>
              <a:rPr lang="de-DE" sz="1600" dirty="0">
                <a:solidFill>
                  <a:schemeClr val="bg1"/>
                </a:solidFill>
              </a:rPr>
            </a:br>
            <a:r>
              <a:rPr lang="de-DE" sz="1600" dirty="0"/>
              <a:t>Test</a:t>
            </a:r>
            <a:endParaRPr lang="de-DE" dirty="0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EAC445FC-D7BF-7139-534F-8E3D9DEA9B63}"/>
              </a:ext>
            </a:extLst>
          </p:cNvPr>
          <p:cNvSpPr/>
          <p:nvPr/>
        </p:nvSpPr>
        <p:spPr>
          <a:xfrm>
            <a:off x="6165796" y="734637"/>
            <a:ext cx="1196878" cy="30065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>
                <a:solidFill>
                  <a:schemeClr val="tx1"/>
                </a:solidFill>
              </a:rPr>
              <a:t>RDM2404</a:t>
            </a:r>
          </a:p>
        </p:txBody>
      </p:sp>
      <p:cxnSp>
        <p:nvCxnSpPr>
          <p:cNvPr id="17" name="Verbinder: gewinkelt 16">
            <a:extLst>
              <a:ext uri="{FF2B5EF4-FFF2-40B4-BE49-F238E27FC236}">
                <a16:creationId xmlns:a16="http://schemas.microsoft.com/office/drawing/2014/main" id="{F233AE76-C680-361B-0A30-6C982BCF89CA}"/>
              </a:ext>
            </a:extLst>
          </p:cNvPr>
          <p:cNvCxnSpPr>
            <a:cxnSpLocks/>
            <a:stCxn id="5" idx="3"/>
            <a:endCxn id="14" idx="1"/>
          </p:cNvCxnSpPr>
          <p:nvPr/>
        </p:nvCxnSpPr>
        <p:spPr>
          <a:xfrm>
            <a:off x="2362838" y="1043107"/>
            <a:ext cx="3293110" cy="43397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Verbinder: gewinkelt 20">
            <a:extLst>
              <a:ext uri="{FF2B5EF4-FFF2-40B4-BE49-F238E27FC236}">
                <a16:creationId xmlns:a16="http://schemas.microsoft.com/office/drawing/2014/main" id="{7CDD2157-B5E4-8F6E-16AF-0D29014A78D9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2362838" y="1043107"/>
            <a:ext cx="3293110" cy="201846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Verbinder: gewinkelt 23">
            <a:extLst>
              <a:ext uri="{FF2B5EF4-FFF2-40B4-BE49-F238E27FC236}">
                <a16:creationId xmlns:a16="http://schemas.microsoft.com/office/drawing/2014/main" id="{52DCB510-D1CA-2E43-2839-904FC5AF7ADD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>
            <a:off x="2362838" y="1043107"/>
            <a:ext cx="3293110" cy="351430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Verbinder: gewinkelt 26">
            <a:extLst>
              <a:ext uri="{FF2B5EF4-FFF2-40B4-BE49-F238E27FC236}">
                <a16:creationId xmlns:a16="http://schemas.microsoft.com/office/drawing/2014/main" id="{4FC2BE3A-E8AF-933F-A9AF-309813BEFEDA}"/>
              </a:ext>
            </a:extLst>
          </p:cNvPr>
          <p:cNvCxnSpPr>
            <a:cxnSpLocks/>
            <a:stCxn id="5" idx="3"/>
            <a:endCxn id="8" idx="1"/>
          </p:cNvCxnSpPr>
          <p:nvPr/>
        </p:nvCxnSpPr>
        <p:spPr>
          <a:xfrm>
            <a:off x="2362838" y="1043107"/>
            <a:ext cx="3293110" cy="5010140"/>
          </a:xfrm>
          <a:prstGeom prst="bentConnector3">
            <a:avLst>
              <a:gd name="adj1" fmla="val 32867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Verbinder: gewinkelt 29">
            <a:extLst>
              <a:ext uri="{FF2B5EF4-FFF2-40B4-BE49-F238E27FC236}">
                <a16:creationId xmlns:a16="http://schemas.microsoft.com/office/drawing/2014/main" id="{B82A3A9A-153A-2D67-08A9-843091EA4AB8}"/>
              </a:ext>
            </a:extLst>
          </p:cNvPr>
          <p:cNvCxnSpPr>
            <a:cxnSpLocks/>
            <a:stCxn id="8" idx="3"/>
            <a:endCxn id="14" idx="3"/>
          </p:cNvCxnSpPr>
          <p:nvPr/>
        </p:nvCxnSpPr>
        <p:spPr>
          <a:xfrm flipH="1" flipV="1">
            <a:off x="7363450" y="1477077"/>
            <a:ext cx="1" cy="4576170"/>
          </a:xfrm>
          <a:prstGeom prst="bentConnector3">
            <a:avLst>
              <a:gd name="adj1" fmla="val -2286000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feld 38">
            <a:extLst>
              <a:ext uri="{FF2B5EF4-FFF2-40B4-BE49-F238E27FC236}">
                <a16:creationId xmlns:a16="http://schemas.microsoft.com/office/drawing/2014/main" id="{F0DA6CF8-E78B-45B4-87C9-E056A451D0B3}"/>
              </a:ext>
            </a:extLst>
          </p:cNvPr>
          <p:cNvSpPr txBox="1"/>
          <p:nvPr/>
        </p:nvSpPr>
        <p:spPr>
          <a:xfrm>
            <a:off x="4179627" y="1129287"/>
            <a:ext cx="12451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/>
              <a:t>2022-&gt;2022 (ALE)</a:t>
            </a:r>
          </a:p>
        </p:txBody>
      </p:sp>
      <p:sp>
        <p:nvSpPr>
          <p:cNvPr id="41" name="Textfeld 40">
            <a:extLst>
              <a:ext uri="{FF2B5EF4-FFF2-40B4-BE49-F238E27FC236}">
                <a16:creationId xmlns:a16="http://schemas.microsoft.com/office/drawing/2014/main" id="{816F97AE-6D73-5B73-E188-FFE4C950C5B9}"/>
              </a:ext>
            </a:extLst>
          </p:cNvPr>
          <p:cNvSpPr txBox="1"/>
          <p:nvPr/>
        </p:nvSpPr>
        <p:spPr>
          <a:xfrm>
            <a:off x="4179627" y="2795457"/>
            <a:ext cx="12451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/>
              <a:t>2022-&gt;2021 (ALE)</a:t>
            </a:r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D1CC8D7D-552E-3819-D9AF-B2875FD0B26A}"/>
              </a:ext>
            </a:extLst>
          </p:cNvPr>
          <p:cNvSpPr txBox="1"/>
          <p:nvPr/>
        </p:nvSpPr>
        <p:spPr>
          <a:xfrm>
            <a:off x="4169291" y="4313491"/>
            <a:ext cx="12451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/>
              <a:t>2022-&gt;ERP (ALE)</a:t>
            </a:r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6E414B7A-6C0A-D257-9A20-5A444C1A1EB3}"/>
              </a:ext>
            </a:extLst>
          </p:cNvPr>
          <p:cNvSpPr txBox="1"/>
          <p:nvPr/>
        </p:nvSpPr>
        <p:spPr>
          <a:xfrm>
            <a:off x="4179625" y="5644644"/>
            <a:ext cx="124514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/>
              <a:t>2022-&gt; 2023/RDM2311</a:t>
            </a:r>
          </a:p>
        </p:txBody>
      </p:sp>
      <p:sp>
        <p:nvSpPr>
          <p:cNvPr id="44" name="Textfeld 43">
            <a:extLst>
              <a:ext uri="{FF2B5EF4-FFF2-40B4-BE49-F238E27FC236}">
                <a16:creationId xmlns:a16="http://schemas.microsoft.com/office/drawing/2014/main" id="{42D8490E-D166-E0A2-C21E-1B67AEEAB2B4}"/>
              </a:ext>
            </a:extLst>
          </p:cNvPr>
          <p:cNvSpPr txBox="1"/>
          <p:nvPr/>
        </p:nvSpPr>
        <p:spPr>
          <a:xfrm>
            <a:off x="7777159" y="4444296"/>
            <a:ext cx="124514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/>
              <a:t>2023/RDM2311</a:t>
            </a:r>
          </a:p>
          <a:p>
            <a:r>
              <a:rPr lang="de-DE" sz="1100" dirty="0"/>
              <a:t>-&gt; 2021/RDM2404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C44F4DF6-7C61-9771-D81D-4B59948A4FD6}"/>
              </a:ext>
            </a:extLst>
          </p:cNvPr>
          <p:cNvSpPr txBox="1"/>
          <p:nvPr/>
        </p:nvSpPr>
        <p:spPr>
          <a:xfrm>
            <a:off x="3576666" y="5980695"/>
            <a:ext cx="4873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 err="1">
                <a:solidFill>
                  <a:srgbClr val="FF0000"/>
                </a:solidFill>
              </a:rPr>
              <a:t>new</a:t>
            </a:r>
            <a:endParaRPr lang="de-DE" sz="1100" dirty="0">
              <a:solidFill>
                <a:srgbClr val="FF0000"/>
              </a:solidFill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24AC074D-5917-1820-5860-51A8DEDDACE4}"/>
              </a:ext>
            </a:extLst>
          </p:cNvPr>
          <p:cNvSpPr txBox="1"/>
          <p:nvPr/>
        </p:nvSpPr>
        <p:spPr>
          <a:xfrm>
            <a:off x="7594634" y="5813921"/>
            <a:ext cx="4873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 err="1">
                <a:solidFill>
                  <a:srgbClr val="FF0000"/>
                </a:solidFill>
              </a:rPr>
              <a:t>new</a:t>
            </a:r>
            <a:endParaRPr lang="de-DE" sz="1100" dirty="0">
              <a:solidFill>
                <a:srgbClr val="FF0000"/>
              </a:solidFill>
            </a:endParaRPr>
          </a:p>
        </p:txBody>
      </p:sp>
      <p:cxnSp>
        <p:nvCxnSpPr>
          <p:cNvPr id="12" name="Verbinder: gewinkelt 11">
            <a:extLst>
              <a:ext uri="{FF2B5EF4-FFF2-40B4-BE49-F238E27FC236}">
                <a16:creationId xmlns:a16="http://schemas.microsoft.com/office/drawing/2014/main" id="{7D31C085-0C97-30DE-E41D-BB3F663DB4BF}"/>
              </a:ext>
            </a:extLst>
          </p:cNvPr>
          <p:cNvCxnSpPr>
            <a:cxnSpLocks/>
            <a:stCxn id="5" idx="0"/>
            <a:endCxn id="14" idx="1"/>
          </p:cNvCxnSpPr>
          <p:nvPr/>
        </p:nvCxnSpPr>
        <p:spPr>
          <a:xfrm rot="16200000" flipH="1">
            <a:off x="3136932" y="-1041938"/>
            <a:ext cx="891170" cy="4146861"/>
          </a:xfrm>
          <a:prstGeom prst="bentConnector4">
            <a:avLst>
              <a:gd name="adj1" fmla="val -25652"/>
              <a:gd name="adj2" fmla="val 93604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feld 21">
            <a:extLst>
              <a:ext uri="{FF2B5EF4-FFF2-40B4-BE49-F238E27FC236}">
                <a16:creationId xmlns:a16="http://schemas.microsoft.com/office/drawing/2014/main" id="{FF2F1F05-37FB-F87D-9FE7-789C632B4EC4}"/>
              </a:ext>
            </a:extLst>
          </p:cNvPr>
          <p:cNvSpPr txBox="1"/>
          <p:nvPr/>
        </p:nvSpPr>
        <p:spPr>
          <a:xfrm>
            <a:off x="2826165" y="107075"/>
            <a:ext cx="23664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/>
              <a:t>2022-&gt;2022 (</a:t>
            </a:r>
            <a:r>
              <a:rPr lang="de-DE" sz="1100" dirty="0" err="1"/>
              <a:t>WebService</a:t>
            </a:r>
            <a:r>
              <a:rPr lang="de-DE" sz="1100" dirty="0"/>
              <a:t>)</a:t>
            </a:r>
          </a:p>
        </p:txBody>
      </p:sp>
      <p:cxnSp>
        <p:nvCxnSpPr>
          <p:cNvPr id="2" name="Verbinder: gewinkelt 1">
            <a:extLst>
              <a:ext uri="{FF2B5EF4-FFF2-40B4-BE49-F238E27FC236}">
                <a16:creationId xmlns:a16="http://schemas.microsoft.com/office/drawing/2014/main" id="{53D8DBBB-E404-AC61-C067-2CA896606336}"/>
              </a:ext>
            </a:extLst>
          </p:cNvPr>
          <p:cNvCxnSpPr>
            <a:cxnSpLocks/>
            <a:stCxn id="5" idx="2"/>
            <a:endCxn id="5" idx="1"/>
          </p:cNvCxnSpPr>
          <p:nvPr/>
        </p:nvCxnSpPr>
        <p:spPr>
          <a:xfrm rot="5400000" flipH="1">
            <a:off x="853612" y="844832"/>
            <a:ext cx="457200" cy="853751"/>
          </a:xfrm>
          <a:prstGeom prst="bentConnector4">
            <a:avLst>
              <a:gd name="adj1" fmla="val -50000"/>
              <a:gd name="adj2" fmla="val 126776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feld 19">
            <a:extLst>
              <a:ext uri="{FF2B5EF4-FFF2-40B4-BE49-F238E27FC236}">
                <a16:creationId xmlns:a16="http://schemas.microsoft.com/office/drawing/2014/main" id="{411C8977-B055-058B-5C69-0B39339FD4F5}"/>
              </a:ext>
            </a:extLst>
          </p:cNvPr>
          <p:cNvSpPr txBox="1"/>
          <p:nvPr/>
        </p:nvSpPr>
        <p:spPr>
          <a:xfrm>
            <a:off x="472237" y="1694300"/>
            <a:ext cx="111722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>
                <a:solidFill>
                  <a:srgbClr val="FF0000"/>
                </a:solidFill>
              </a:rPr>
              <a:t>New</a:t>
            </a:r>
          </a:p>
          <a:p>
            <a:r>
              <a:rPr lang="de-DE" sz="1100" dirty="0" err="1">
                <a:solidFill>
                  <a:srgbClr val="FF0000"/>
                </a:solidFill>
              </a:rPr>
              <a:t>Direct</a:t>
            </a:r>
            <a:r>
              <a:rPr lang="de-DE" sz="1100" dirty="0">
                <a:solidFill>
                  <a:srgbClr val="FF0000"/>
                </a:solidFill>
              </a:rPr>
              <a:t> Update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7E2EA438-6F23-64B2-61CA-7ADD1380FC9A}"/>
              </a:ext>
            </a:extLst>
          </p:cNvPr>
          <p:cNvSpPr/>
          <p:nvPr/>
        </p:nvSpPr>
        <p:spPr>
          <a:xfrm>
            <a:off x="9154663" y="2437232"/>
            <a:ext cx="1707503" cy="9144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S03 – </a:t>
            </a:r>
            <a:r>
              <a:rPr lang="de-DE" sz="1600" dirty="0"/>
              <a:t>100/400</a:t>
            </a:r>
            <a:br>
              <a:rPr lang="de-DE" dirty="0"/>
            </a:br>
            <a:r>
              <a:rPr lang="de-DE" sz="1600" dirty="0"/>
              <a:t>S/4 2023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E9B98A96-1135-D298-B003-AA2AA6785693}"/>
              </a:ext>
            </a:extLst>
          </p:cNvPr>
          <p:cNvSpPr txBox="1"/>
          <p:nvPr/>
        </p:nvSpPr>
        <p:spPr>
          <a:xfrm>
            <a:off x="9515167" y="3432101"/>
            <a:ext cx="12451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 err="1">
                <a:highlight>
                  <a:srgbClr val="FFFF00"/>
                </a:highlight>
              </a:rPr>
              <a:t>SmokeTests</a:t>
            </a:r>
            <a:endParaRPr lang="de-DE" sz="110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6670289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BF9C2747-CB59-335E-2697-C09F073727E1}"/>
              </a:ext>
            </a:extLst>
          </p:cNvPr>
          <p:cNvSpPr/>
          <p:nvPr/>
        </p:nvSpPr>
        <p:spPr>
          <a:xfrm>
            <a:off x="976349" y="1210889"/>
            <a:ext cx="1707502" cy="9144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IH1 - 100</a:t>
            </a:r>
            <a:br>
              <a:rPr lang="de-DE" sz="1600" dirty="0"/>
            </a:br>
            <a:r>
              <a:rPr lang="de-DE" sz="1600" dirty="0">
                <a:solidFill>
                  <a:schemeClr val="bg1"/>
                </a:solidFill>
              </a:rPr>
              <a:t>S/4 2022 </a:t>
            </a:r>
            <a:br>
              <a:rPr lang="de-DE" sz="1600" dirty="0">
                <a:solidFill>
                  <a:schemeClr val="bg1"/>
                </a:solidFill>
              </a:rPr>
            </a:br>
            <a:r>
              <a:rPr lang="de-DE" sz="1600" dirty="0"/>
              <a:t>Test</a:t>
            </a:r>
            <a:endParaRPr lang="de-DE" dirty="0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8662CE6A-BFE5-8592-7B3D-FCA0E5EE61A3}"/>
              </a:ext>
            </a:extLst>
          </p:cNvPr>
          <p:cNvSpPr/>
          <p:nvPr/>
        </p:nvSpPr>
        <p:spPr>
          <a:xfrm>
            <a:off x="6262929" y="1595139"/>
            <a:ext cx="1707503" cy="9144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S03 – </a:t>
            </a:r>
            <a:br>
              <a:rPr lang="de-DE" dirty="0"/>
            </a:br>
            <a:r>
              <a:rPr lang="de-DE" sz="1600" dirty="0"/>
              <a:t>S/4 2023</a:t>
            </a:r>
          </a:p>
        </p:txBody>
      </p:sp>
      <p:cxnSp>
        <p:nvCxnSpPr>
          <p:cNvPr id="17" name="Verbinder: gewinkelt 16">
            <a:extLst>
              <a:ext uri="{FF2B5EF4-FFF2-40B4-BE49-F238E27FC236}">
                <a16:creationId xmlns:a16="http://schemas.microsoft.com/office/drawing/2014/main" id="{F233AE76-C680-361B-0A30-6C982BCF89CA}"/>
              </a:ext>
            </a:extLst>
          </p:cNvPr>
          <p:cNvCxnSpPr>
            <a:cxnSpLocks/>
            <a:stCxn id="5" idx="3"/>
            <a:endCxn id="8" idx="1"/>
          </p:cNvCxnSpPr>
          <p:nvPr/>
        </p:nvCxnSpPr>
        <p:spPr>
          <a:xfrm>
            <a:off x="2683851" y="1668089"/>
            <a:ext cx="3579078" cy="38425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feld 42">
            <a:extLst>
              <a:ext uri="{FF2B5EF4-FFF2-40B4-BE49-F238E27FC236}">
                <a16:creationId xmlns:a16="http://schemas.microsoft.com/office/drawing/2014/main" id="{6E414B7A-6C0A-D257-9A20-5A444C1A1EB3}"/>
              </a:ext>
            </a:extLst>
          </p:cNvPr>
          <p:cNvSpPr txBox="1"/>
          <p:nvPr/>
        </p:nvSpPr>
        <p:spPr>
          <a:xfrm>
            <a:off x="3083667" y="1370004"/>
            <a:ext cx="12451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/>
              <a:t>Transports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C44F4DF6-7C61-9771-D81D-4B59948A4FD6}"/>
              </a:ext>
            </a:extLst>
          </p:cNvPr>
          <p:cNvSpPr txBox="1"/>
          <p:nvPr/>
        </p:nvSpPr>
        <p:spPr>
          <a:xfrm>
            <a:off x="1114536" y="2154275"/>
            <a:ext cx="196913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>
                <a:solidFill>
                  <a:srgbClr val="FF0000"/>
                </a:solidFill>
              </a:rPr>
              <a:t>Enhanced </a:t>
            </a:r>
            <a:r>
              <a:rPr lang="de-DE" sz="1100" dirty="0" err="1">
                <a:solidFill>
                  <a:srgbClr val="FF0000"/>
                </a:solidFill>
              </a:rPr>
              <a:t>object</a:t>
            </a:r>
            <a:r>
              <a:rPr lang="de-DE" sz="1100" dirty="0">
                <a:solidFill>
                  <a:srgbClr val="FF0000"/>
                </a:solidFill>
              </a:rPr>
              <a:t> type</a:t>
            </a:r>
          </a:p>
          <a:p>
            <a:r>
              <a:rPr lang="de-DE" sz="1100" dirty="0">
                <a:solidFill>
                  <a:srgbClr val="FF0000"/>
                </a:solidFill>
              </a:rPr>
              <a:t>New </a:t>
            </a:r>
            <a:r>
              <a:rPr lang="de-DE" sz="1100" dirty="0" err="1">
                <a:solidFill>
                  <a:srgbClr val="FF0000"/>
                </a:solidFill>
              </a:rPr>
              <a:t>object</a:t>
            </a:r>
            <a:r>
              <a:rPr lang="de-DE" sz="1100" dirty="0">
                <a:solidFill>
                  <a:srgbClr val="FF0000"/>
                </a:solidFill>
              </a:rPr>
              <a:t> type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96613865-F897-4F70-11F5-97209A79B3B3}"/>
              </a:ext>
            </a:extLst>
          </p:cNvPr>
          <p:cNvSpPr txBox="1"/>
          <p:nvPr/>
        </p:nvSpPr>
        <p:spPr>
          <a:xfrm>
            <a:off x="3706237" y="253445"/>
            <a:ext cx="2366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Enhancement Test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0D7C4EEF-903E-056A-5B7B-8B58FA45FDF6}"/>
              </a:ext>
            </a:extLst>
          </p:cNvPr>
          <p:cNvSpPr/>
          <p:nvPr/>
        </p:nvSpPr>
        <p:spPr>
          <a:xfrm>
            <a:off x="6765011" y="1262501"/>
            <a:ext cx="1196878" cy="30065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>
                <a:solidFill>
                  <a:schemeClr val="tx1"/>
                </a:solidFill>
              </a:rPr>
              <a:t>RDM2404 - </a:t>
            </a:r>
            <a:r>
              <a:rPr lang="de-DE" sz="1050" dirty="0" err="1">
                <a:solidFill>
                  <a:schemeClr val="tx1"/>
                </a:solidFill>
              </a:rPr>
              <a:t>Prod</a:t>
            </a:r>
            <a:endParaRPr lang="de-DE" sz="1050" dirty="0">
              <a:solidFill>
                <a:schemeClr val="tx1"/>
              </a:solidFill>
            </a:endParaRP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112D7D3F-547F-DB0A-8C7D-A9BB191AE0B8}"/>
              </a:ext>
            </a:extLst>
          </p:cNvPr>
          <p:cNvSpPr txBox="1"/>
          <p:nvPr/>
        </p:nvSpPr>
        <p:spPr>
          <a:xfrm>
            <a:off x="6378884" y="2585162"/>
            <a:ext cx="19691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>
                <a:solidFill>
                  <a:srgbClr val="FF0000"/>
                </a:solidFill>
              </a:rPr>
              <a:t>Namespace </a:t>
            </a:r>
            <a:r>
              <a:rPr lang="de-DE" sz="1100" dirty="0" err="1">
                <a:solidFill>
                  <a:srgbClr val="FF0000"/>
                </a:solidFill>
              </a:rPr>
              <a:t>locked</a:t>
            </a:r>
            <a:endParaRPr lang="de-DE" sz="1100" dirty="0">
              <a:solidFill>
                <a:srgbClr val="FF0000"/>
              </a:solidFill>
            </a:endParaRP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9A8AB1C0-D0D0-7544-959F-AD48683207BE}"/>
              </a:ext>
            </a:extLst>
          </p:cNvPr>
          <p:cNvSpPr txBox="1"/>
          <p:nvPr/>
        </p:nvSpPr>
        <p:spPr>
          <a:xfrm>
            <a:off x="1122190" y="2799566"/>
            <a:ext cx="19691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>
                <a:solidFill>
                  <a:srgbClr val="FF0000"/>
                </a:solidFill>
              </a:rPr>
              <a:t>Namespace open</a:t>
            </a: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9EAEFAA0-9602-432D-DC1D-15D806DC562C}"/>
              </a:ext>
            </a:extLst>
          </p:cNvPr>
          <p:cNvSpPr/>
          <p:nvPr/>
        </p:nvSpPr>
        <p:spPr>
          <a:xfrm>
            <a:off x="1484057" y="910237"/>
            <a:ext cx="1196878" cy="30065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>
                <a:solidFill>
                  <a:schemeClr val="tx1"/>
                </a:solidFill>
              </a:rPr>
              <a:t>RDM2404 - </a:t>
            </a:r>
            <a:r>
              <a:rPr lang="de-DE" sz="1050" dirty="0" err="1">
                <a:solidFill>
                  <a:schemeClr val="tx1"/>
                </a:solidFill>
              </a:rPr>
              <a:t>Dev</a:t>
            </a:r>
            <a:endParaRPr lang="de-DE" sz="1050" dirty="0">
              <a:solidFill>
                <a:schemeClr val="tx1"/>
              </a:solidFill>
            </a:endParaRPr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66573468-699F-168D-99A2-EDAA8A05BE80}"/>
              </a:ext>
            </a:extLst>
          </p:cNvPr>
          <p:cNvSpPr txBox="1"/>
          <p:nvPr/>
        </p:nvSpPr>
        <p:spPr>
          <a:xfrm>
            <a:off x="2301181" y="4173721"/>
            <a:ext cx="465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Upgrade Test (via „real“ Upgrade)</a:t>
            </a:r>
          </a:p>
        </p:txBody>
      </p:sp>
      <p:cxnSp>
        <p:nvCxnSpPr>
          <p:cNvPr id="38" name="Gerade Verbindung mit Pfeil 37">
            <a:extLst>
              <a:ext uri="{FF2B5EF4-FFF2-40B4-BE49-F238E27FC236}">
                <a16:creationId xmlns:a16="http://schemas.microsoft.com/office/drawing/2014/main" id="{04E5A27A-C98C-AAE6-8F6F-DA47AF1551D1}"/>
              </a:ext>
            </a:extLst>
          </p:cNvPr>
          <p:cNvCxnSpPr/>
          <p:nvPr/>
        </p:nvCxnSpPr>
        <p:spPr>
          <a:xfrm flipH="1" flipV="1">
            <a:off x="2568102" y="2582489"/>
            <a:ext cx="428017" cy="156149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feld 39">
            <a:extLst>
              <a:ext uri="{FF2B5EF4-FFF2-40B4-BE49-F238E27FC236}">
                <a16:creationId xmlns:a16="http://schemas.microsoft.com/office/drawing/2014/main" id="{0E638110-13B9-9C16-2E41-2804F06DE8D6}"/>
              </a:ext>
            </a:extLst>
          </p:cNvPr>
          <p:cNvSpPr txBox="1"/>
          <p:nvPr/>
        </p:nvSpPr>
        <p:spPr>
          <a:xfrm>
            <a:off x="8056713" y="4183844"/>
            <a:ext cx="291608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Upgrade Test (</a:t>
            </a:r>
            <a:r>
              <a:rPr lang="de-DE" dirty="0" err="1"/>
              <a:t>checking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completeness</a:t>
            </a:r>
            <a:r>
              <a:rPr lang="de-DE" dirty="0"/>
              <a:t> – incl. </a:t>
            </a:r>
            <a:r>
              <a:rPr lang="de-DE" dirty="0" err="1"/>
              <a:t>Structures</a:t>
            </a:r>
            <a:r>
              <a:rPr lang="de-DE" dirty="0"/>
              <a:t> and </a:t>
            </a:r>
            <a:r>
              <a:rPr lang="de-DE" dirty="0" err="1"/>
              <a:t>relating</a:t>
            </a:r>
            <a:r>
              <a:rPr lang="de-DE" dirty="0"/>
              <a:t> TADIR </a:t>
            </a:r>
            <a:r>
              <a:rPr lang="de-DE" dirty="0" err="1"/>
              <a:t>entries</a:t>
            </a:r>
            <a:r>
              <a:rPr lang="de-DE"/>
              <a:t>)</a:t>
            </a:r>
            <a:endParaRPr lang="de-DE" dirty="0"/>
          </a:p>
        </p:txBody>
      </p:sp>
      <p:cxnSp>
        <p:nvCxnSpPr>
          <p:cNvPr id="45" name="Gerade Verbindung mit Pfeil 44">
            <a:extLst>
              <a:ext uri="{FF2B5EF4-FFF2-40B4-BE49-F238E27FC236}">
                <a16:creationId xmlns:a16="http://schemas.microsoft.com/office/drawing/2014/main" id="{8791DFB4-D0C9-D982-2FA3-2B76073582DB}"/>
              </a:ext>
            </a:extLst>
          </p:cNvPr>
          <p:cNvCxnSpPr/>
          <p:nvPr/>
        </p:nvCxnSpPr>
        <p:spPr>
          <a:xfrm flipH="1" flipV="1">
            <a:off x="8134006" y="2648253"/>
            <a:ext cx="428017" cy="156149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2434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159</Words>
  <Application>Microsoft Office PowerPoint</Application>
  <PresentationFormat>Breitbild</PresentationFormat>
  <Paragraphs>36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Michael Boettcher</dc:creator>
  <cp:lastModifiedBy>Michael Boettcher</cp:lastModifiedBy>
  <cp:revision>13</cp:revision>
  <dcterms:created xsi:type="dcterms:W3CDTF">2024-05-23T12:53:50Z</dcterms:created>
  <dcterms:modified xsi:type="dcterms:W3CDTF">2024-07-09T07:48:26Z</dcterms:modified>
</cp:coreProperties>
</file>